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overlay val="false"/>
    </c:title>
    <c:plotArea>
      <c:barChart>
        <c:barDir val="col"/>
        <c:grouping val="clustered"/>
        <c:ser>
          <c:idx val="0"/>
          <c:order val="0"/>
          <c:tx>
            <c:v>2025Q2</c:v>
          </c:tx>
          <c:cat>
            <c:strLit>
              <c:ptCount val="4"/>
              <c:pt idx="0">
                <c:v>股票</c:v>
              </c:pt>
              <c:pt idx="1">
                <c:v>可转债</c:v>
              </c:pt>
              <c:pt idx="2">
                <c:v>利率债</c:v>
              </c:pt>
              <c:pt idx="3">
                <c:v>信用债</c:v>
              </c:pt>
            </c:strLit>
          </c:cat>
          <c:val>
            <c:numLit>
              <c:ptCount val="4"/>
              <c:pt idx="0">
                <c:v>29.0</c:v>
              </c:pt>
              <c:pt idx="1">
                <c:v>7.0</c:v>
              </c:pt>
              <c:pt idx="2">
                <c:v>23.0</c:v>
              </c:pt>
              <c:pt idx="3">
                <c:v>24.0</c:v>
              </c:pt>
            </c:numLit>
          </c:val>
        </c:ser>
        <c:ser>
          <c:idx val="1"/>
          <c:order val="1"/>
          <c:tx>
            <c:v>2025Q3</c:v>
          </c:tx>
          <c:cat>
            <c:strLit>
              <c:ptCount val="4"/>
              <c:pt idx="0">
                <c:v>股票</c:v>
              </c:pt>
              <c:pt idx="1">
                <c:v>可转债</c:v>
              </c:pt>
              <c:pt idx="2">
                <c:v>利率债</c:v>
              </c:pt>
              <c:pt idx="3">
                <c:v>信用债</c:v>
              </c:pt>
            </c:strLit>
          </c:cat>
          <c:val>
            <c:numLit>
              <c:ptCount val="4"/>
              <c:pt idx="0">
                <c:v>35.0</c:v>
              </c:pt>
              <c:pt idx="1">
                <c:v>2.0</c:v>
              </c:pt>
              <c:pt idx="2">
                <c:v>20.0</c:v>
              </c:pt>
              <c:pt idx="3">
                <c:v>15.0</c:v>
              </c:pt>
            </c:numLit>
          </c:val>
        </c:ser>
        <c:ser>
          <c:idx val="2"/>
          <c:order val="2"/>
          <c:tx>
            <c:v>2025Q4</c:v>
          </c:tx>
          <c:cat>
            <c:strLit>
              <c:ptCount val="4"/>
              <c:pt idx="0">
                <c:v>股票</c:v>
              </c:pt>
              <c:pt idx="1">
                <c:v>可转债</c:v>
              </c:pt>
              <c:pt idx="2">
                <c:v>利率债</c:v>
              </c:pt>
              <c:pt idx="3">
                <c:v>信用债</c:v>
              </c:pt>
            </c:strLit>
          </c:cat>
          <c:val>
            <c:numLit>
              <c:ptCount val="4"/>
              <c:pt idx="0">
                <c:v>38.0</c:v>
              </c:pt>
              <c:pt idx="1">
                <c:v>1.0</c:v>
              </c:pt>
              <c:pt idx="2">
                <c:v>20.0</c:v>
              </c:pt>
              <c:pt idx="3">
                <c:v>22.0</c:v>
              </c:pt>
            </c:numLit>
          </c:val>
        </c:ser>
        <c:ser>
          <c:idx val="3"/>
          <c:order val="3"/>
          <c:tx>
            <c:v>2026Q1</c:v>
          </c:tx>
          <c:cat>
            <c:strLit>
              <c:ptCount val="4"/>
              <c:pt idx="0">
                <c:v>股票</c:v>
              </c:pt>
              <c:pt idx="1">
                <c:v>可转债</c:v>
              </c:pt>
              <c:pt idx="2">
                <c:v>利率债</c:v>
              </c:pt>
              <c:pt idx="3">
                <c:v>信用债</c:v>
              </c:pt>
            </c:strLit>
          </c:cat>
          <c:val>
            <c:numLit>
              <c:ptCount val="4"/>
              <c:pt idx="0">
                <c:v>32.0</c:v>
              </c:pt>
              <c:pt idx="1">
                <c:v>0.0</c:v>
              </c:pt>
              <c:pt idx="2">
                <c:v>12.0</c:v>
              </c:pt>
              <c:pt idx="3">
                <c:v>48.0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%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overlay val="false"/>
    </c:title>
    <c:plotArea>
      <c:lineChart>
        <c:ser>
          <c:idx val="0"/>
          <c:order val="0"/>
          <c:tx>
            <c:v>中欧瑾添A</c:v>
          </c:tx>
          <c:cat>
            <c:strLit>
              <c:ptCount val="6"/>
              <c:pt idx="0">
                <c:v>2024-01</c:v>
              </c:pt>
              <c:pt idx="1">
                <c:v>2024-07</c:v>
              </c:pt>
              <c:pt idx="2">
                <c:v>2025-01</c:v>
              </c:pt>
              <c:pt idx="3">
                <c:v>2025-07</c:v>
              </c:pt>
              <c:pt idx="4">
                <c:v>2026-01</c:v>
              </c:pt>
              <c:pt idx="5">
                <c:v>2026-04</c:v>
              </c:pt>
            </c:strLit>
          </c:cat>
          <c:val>
            <c:numLit>
              <c:ptCount val="6"/>
              <c:pt idx="0">
                <c:v>0.0</c:v>
              </c:pt>
              <c:pt idx="1">
                <c:v>-2.0</c:v>
              </c:pt>
              <c:pt idx="2">
                <c:v>2.0</c:v>
              </c:pt>
              <c:pt idx="3">
                <c:v>8.0</c:v>
              </c:pt>
              <c:pt idx="4">
                <c:v>10.0</c:v>
              </c:pt>
              <c:pt idx="5">
                <c:v>12.5</c:v>
              </c:pt>
            </c:numLit>
          </c:val>
          <c:smooth val="false"/>
        </c:ser>
        <c:ser>
          <c:idx val="1"/>
          <c:order val="1"/>
          <c:tx>
            <c:v>万得混合债券型二级指数</c:v>
          </c:tx>
          <c:cat>
            <c:strLit>
              <c:ptCount val="6"/>
              <c:pt idx="0">
                <c:v>2024-01</c:v>
              </c:pt>
              <c:pt idx="1">
                <c:v>2024-07</c:v>
              </c:pt>
              <c:pt idx="2">
                <c:v>2025-01</c:v>
              </c:pt>
              <c:pt idx="3">
                <c:v>2025-07</c:v>
              </c:pt>
              <c:pt idx="4">
                <c:v>2026-01</c:v>
              </c:pt>
              <c:pt idx="5">
                <c:v>2026-04</c:v>
              </c:pt>
            </c:strLit>
          </c:cat>
          <c:val>
            <c:numLit>
              <c:ptCount val="6"/>
              <c:pt idx="0">
                <c:v>2.0</c:v>
              </c:pt>
              <c:pt idx="1">
                <c:v>4.0</c:v>
              </c:pt>
              <c:pt idx="2">
                <c:v>6.0</c:v>
              </c:pt>
              <c:pt idx="3">
                <c:v>10.0</c:v>
              </c:pt>
              <c:pt idx="4">
                <c:v>14.0</c:v>
              </c:pt>
              <c:pt idx="5">
                <c:v>16.0</c:v>
              </c:pt>
            </c:numLit>
          </c:val>
          <c:smooth val="false"/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%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between"/>
      </c:valAx>
    </c:plotArea>
    <c:legend>
      <c:legendPos val="b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304800" y="203200"/>
            <a:ext cx="5334000" cy="4572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2000" b="true">
                <a:solidFill>
                  <a:srgbClr val="1A3D6B"/>
                </a:solidFill>
                <a:ea typeface="微软雅黑"/>
              </a:rPr>
              <a:t>偏债混-中欧瑾添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304800" y="660400"/>
            <a:ext cx="5334000" cy="7112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/>
              <a:t>A:013998  C:013999  |  成立日：2021-11-09（任职：2024-08-23）</a:t>
            </a:r>
          </a:p>
          <a:p>
            <a:pPr algn="l"/>
            <a:r>
              <a:rPr lang="en-US" sz="1000" b="false">
                <a:solidFill>
                  <a:srgbClr val="404040"/>
                </a:solidFill>
                <a:ea typeface="微软雅黑"/>
              </a:rPr>
              <a:t>基金经理：王申、赵煜澄  |  最新规模：2.83亿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304800" y="1422400"/>
            <a:ext cx="2540000" cy="2794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1100" b="true">
                <a:solidFill>
                  <a:srgbClr val="1A3D6B"/>
                </a:solidFill>
                <a:ea typeface="微软雅黑"/>
              </a:rPr>
              <a:t>投资范围及策略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304800" y="1701800"/>
            <a:ext cx="5334000" cy="23876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/>
              <a:t>以30%权益中枢的高波收益+策略，在控制波动与回撤的前提下增强收益。</a:t>
            </a:r>
          </a:p>
          <a:p>
            <a:pPr algn="l"/>
            <a:r>
              <a:rPr lang="en-US"/>
              <a:t>股票：采用smart beta宏观择时与自下而上宏观敏感度体系。</a:t>
            </a:r>
          </a:p>
          <a:p>
            <a:pPr algn="l"/>
            <a:r>
              <a:rPr lang="en-US"/>
              <a:t>可转债：采用估值交易指数体系与量化模型获取可持续alpha。</a:t>
            </a:r>
          </a:p>
          <a:p>
            <a:pPr algn="l"/>
            <a:r>
              <a:rPr lang="en-US" sz="900" b="false">
                <a:solidFill>
                  <a:srgbClr val="000000"/>
                </a:solidFill>
                <a:ea typeface="微软雅黑"/>
              </a:rPr>
              <a:t>纯债：高等级信用债为底仓，辅以利率交易。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9144000" y="203200"/>
            <a:ext cx="2794000" cy="609600"/>
          </a:xfrm>
          <a:prstGeom prst="rect">
            <a:avLst/>
          </a:prstGeom>
        </p:spPr>
        <p:txBody>
          <a:bodyPr anchor="t" rtlCol="false"/>
          <a:lstStyle/>
          <a:p>
            <a:pPr algn="r"/>
            <a:r>
              <a:rPr lang="en-US"/>
              <a:t>中欧基金</a:t>
            </a:r>
          </a:p>
          <a:p>
            <a:pPr algn="r"/>
            <a:r>
              <a:rPr lang="en-US" sz="1200" b="true">
                <a:solidFill>
                  <a:srgbClr val="C03030"/>
                </a:solidFill>
                <a:ea typeface="微软雅黑"/>
              </a:rPr>
              <a:t>用长期业绩说话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304800" y="4165600"/>
            <a:ext cx="1524000" cy="2540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1100" b="true">
                <a:solidFill>
                  <a:srgbClr val="1A3D6B"/>
                </a:solidFill>
                <a:ea typeface="微软雅黑"/>
              </a:rPr>
              <a:t>业绩指标</a:t>
            </a:r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304800" y="4445000"/>
          <a:ext cx="5334000" cy="14986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ea typeface="微软雅黑"/>
                        </a:rPr>
                        <a:t>指标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latin typeface="微软雅黑"/>
                        </a:rPr>
                        <a:t>2025年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latin typeface="微软雅黑"/>
                        </a:rPr>
                        <a:t>YTD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ea typeface="微软雅黑"/>
                        </a:rPr>
                        <a:t>任职以来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ea typeface="微软雅黑"/>
                        </a:rPr>
                        <a:t>近一年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800" b="true">
                          <a:ea typeface="微软雅黑"/>
                        </a:rPr>
                        <a:t>近六个月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累计收益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7.87%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4.63%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21.08%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13.39%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6.20%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年化收益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7.87%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14.77%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12%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13.39%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12.18%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收益排名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--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22%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22%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22%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22%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二级债基指数(年化)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5.76%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7.08%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7.91%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7.58%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4.76%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夏普比率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1.36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1.84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1.65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2.02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1.60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032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ea typeface="微软雅黑"/>
                        </a:rPr>
                        <a:t>最大回撤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-2.81%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-4.43%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-4.43%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-4.43%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750" b="false">
                          <a:latin typeface="微软雅黑"/>
                        </a:rPr>
                        <a:t>-4.43%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name="TextBox 9" id="9"/>
          <p:cNvSpPr txBox="true"/>
          <p:nvPr/>
        </p:nvSpPr>
        <p:spPr>
          <a:xfrm>
            <a:off x="5969000" y="660400"/>
            <a:ext cx="4064000" cy="2794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1100" b="true">
                <a:solidFill>
                  <a:srgbClr val="1A3D6B"/>
                </a:solidFill>
                <a:ea typeface="微软雅黑"/>
              </a:rPr>
              <a:t>大类资产配置情况（%）</a:t>
            </a:r>
          </a:p>
        </p:txBody>
      </p:sp>
      <p:graphicFrame>
        <p:nvGraphicFramePr>
          <p:cNvPr name="Chart 10" id="10"/>
          <p:cNvGraphicFramePr>
            <a:graphicFrameLocks noGrp="true"/>
          </p:cNvGraphicFramePr>
          <p:nvPr/>
        </p:nvGraphicFramePr>
        <p:xfrm>
          <a:off x="460" y="76"/>
          <a:ext cx="485" cy="205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11" id="11"/>
          <p:cNvSpPr txBox="true"/>
          <p:nvPr/>
        </p:nvSpPr>
        <p:spPr>
          <a:xfrm>
            <a:off x="5969000" y="3657600"/>
            <a:ext cx="4064000" cy="2794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1100" b="true">
                <a:solidFill>
                  <a:srgbClr val="1A3D6B"/>
                </a:solidFill>
                <a:ea typeface="微软雅黑"/>
              </a:rPr>
              <a:t>累计收益率走势（%）</a:t>
            </a:r>
          </a:p>
        </p:txBody>
      </p:sp>
      <p:graphicFrame>
        <p:nvGraphicFramePr>
          <p:cNvPr name="Chart 12" id="12"/>
          <p:cNvGraphicFramePr>
            <a:graphicFrameLocks noGrp="true"/>
          </p:cNvGraphicFramePr>
          <p:nvPr/>
        </p:nvGraphicFramePr>
        <p:xfrm>
          <a:off x="460" y="312"/>
          <a:ext cx="485" cy="2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name="TextBox 13" id="13"/>
          <p:cNvSpPr txBox="true"/>
          <p:nvPr/>
        </p:nvSpPr>
        <p:spPr>
          <a:xfrm>
            <a:off x="304800" y="6375400"/>
            <a:ext cx="7112000" cy="228600"/>
          </a:xfrm>
          <a:prstGeom prst="rect">
            <a:avLst/>
          </a:prstGeom>
        </p:spPr>
        <p:txBody>
          <a:bodyPr anchor="t" rtlCol="false"/>
          <a:lstStyle/>
          <a:p>
            <a:pPr algn="l"/>
            <a:r>
              <a:rPr lang="en-US" sz="800" b="false">
                <a:solidFill>
                  <a:srgbClr val="808080"/>
                </a:solidFill>
                <a:ea typeface="微软雅黑"/>
              </a:rPr>
              <a:t>数据截点：2026/4/30  |  数据来源：WIND，中欧基金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