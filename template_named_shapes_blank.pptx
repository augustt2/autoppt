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股票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62</c:v>
                </c:pt>
                <c:pt idx="2">
                  <c:v>58</c:v>
                </c:pt>
                <c:pt idx="3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债券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28</c:v>
                </c:pt>
                <c:pt idx="2">
                  <c:v>32</c:v>
                </c:pt>
                <c:pt idx="3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本基金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模板 B：命名形状（Blank 空白版式）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本文件第 2 页为空白版式，每个可编辑区域都是普通形状，并在选择窗格中命名为英文常量。</a:t>
            </a: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自动化写法：遍历 slide.shapes，按 shape.name == "TBL_RANKING" 等查找后填数/换图。</a:t>
            </a: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特点：版式自由，接近「照着公司范例画一页」；名字由模板约定，与占位符 idx 无关。</a:t>
            </a:r>
          </a:p>
          <a:p>
            <a:pPr>
              <a:defRPr sz="1400" b="1">
                <a:solidFill>
                  <a:srgbClr val="1A1A1A"/>
                </a:solidFill>
                <a:latin typeface="微软雅黑"/>
              </a:defRPr>
            </a:pPr>
            <a:r>
              <a:t>请在 PowerPoint「开始 → 选择 → 选择窗格」中核对名字。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PAGE"/>
          <p:cNvSpPr txBox="1"/>
          <p:nvPr/>
        </p:nvSpPr>
        <p:spPr>
          <a:xfrm>
            <a:off x="365760" y="109728"/>
            <a:ext cx="11460175" cy="475488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TITLE_PAGE（大标题）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程序替换为：基金业绩说明 + 产品名</a:t>
            </a:r>
          </a:p>
        </p:txBody>
      </p:sp>
      <p:sp>
        <p:nvSpPr>
          <p:cNvPr id="3" name="LBL_FUND_SECTION"/>
          <p:cNvSpPr txBox="1"/>
          <p:nvPr/>
        </p:nvSpPr>
        <p:spPr>
          <a:xfrm>
            <a:off x="411480" y="658368"/>
            <a:ext cx="5623560" cy="256032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LBL_FUND_SECTION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小节标题占位，可改为静态「基金基本情况」</a:t>
            </a:r>
          </a:p>
        </p:txBody>
      </p:sp>
      <p:sp>
        <p:nvSpPr>
          <p:cNvPr id="4" name="TXT_FUND_PROFILE"/>
          <p:cNvSpPr txBox="1"/>
          <p:nvPr/>
        </p:nvSpPr>
        <p:spPr>
          <a:xfrm>
            <a:off x="411480" y="950976"/>
            <a:ext cx="5623560" cy="2240280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TXT_FUND_PROFILE（多行文字）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程序写入：类型、成立日、规模、经理、基准、风险等级等。</a:t>
            </a:r>
          </a:p>
        </p:txBody>
      </p:sp>
      <p:sp>
        <p:nvSpPr>
          <p:cNvPr id="5" name="LBL_RANK_SECTION"/>
          <p:cNvSpPr txBox="1"/>
          <p:nvPr/>
        </p:nvSpPr>
        <p:spPr>
          <a:xfrm>
            <a:off x="411480" y="3401568"/>
            <a:ext cx="5623560" cy="256032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LBL_RANK_SECTION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小节标题，如「收益率排名」</a:t>
            </a:r>
          </a:p>
        </p:txBody>
      </p:sp>
      <p:graphicFrame>
        <p:nvGraphicFramePr>
          <p:cNvPr id="6" name="TBL_RANKING"/>
          <p:cNvGraphicFramePr>
            <a:graphicFrameLocks noGrp="1"/>
          </p:cNvGraphicFramePr>
          <p:nvPr/>
        </p:nvGraphicFramePr>
        <p:xfrm>
          <a:off x="411480" y="3694176"/>
          <a:ext cx="553212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</a:tblGrid>
              <a:tr h="315468">
                <a:tc>
                  <a:txBody>
                    <a:bodyPr/>
                    <a:lstStyle/>
                    <a:p>
                      <a:pPr>
                        <a:defRPr b="1" sz="900">
                          <a:latin typeface="微软雅黑"/>
                        </a:defRPr>
                      </a:pPr>
                      <a:r>
                        <a:t>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latin typeface="微软雅黑"/>
                        </a:defRPr>
                      </a:pPr>
                      <a:r>
                        <a:t>收益率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latin typeface="微软雅黑"/>
                        </a:defRPr>
                      </a:pPr>
                      <a:r>
                        <a:t>同类排名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latin typeface="微软雅黑"/>
                        </a:defRPr>
                      </a:pPr>
                      <a:r>
                        <a:t>分位数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（数据）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LBL_ALLOC_SECTION"/>
          <p:cNvSpPr txBox="1"/>
          <p:nvPr/>
        </p:nvSpPr>
        <p:spPr>
          <a:xfrm>
            <a:off x="6172200" y="658368"/>
            <a:ext cx="5806440" cy="256032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LBL_ALLOC_SECTION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如：过去4季度资产配置（%）</a:t>
            </a:r>
          </a:p>
        </p:txBody>
      </p:sp>
      <p:graphicFrame>
        <p:nvGraphicFramePr>
          <p:cNvPr id="8" name="CHART_ALLOCATION"/>
          <p:cNvGraphicFramePr>
            <a:graphicFrameLocks noGrp="1"/>
          </p:cNvGraphicFramePr>
          <p:nvPr/>
        </p:nvGraphicFramePr>
        <p:xfrm>
          <a:off x="6172200" y="950976"/>
          <a:ext cx="580644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LBL_NAV_SECTION"/>
          <p:cNvSpPr txBox="1"/>
          <p:nvPr/>
        </p:nvSpPr>
        <p:spPr>
          <a:xfrm>
            <a:off x="6172200" y="3401568"/>
            <a:ext cx="5806440" cy="256032"/>
          </a:xfrm>
          <a:prstGeom prst="rect">
            <a:avLst/>
          </a:prstGeom>
          <a:solidFill>
            <a:srgbClr val="F5F8FF"/>
          </a:solidFill>
          <a:ln w="9525">
            <a:solidFill>
              <a:srgbClr val="99B4CC"/>
            </a:solidFill>
          </a:ln>
        </p:spPr>
        <p:txBody>
          <a:bodyPr wrap="square" anchor="t">
            <a:noAutofit/>
          </a:bodyPr>
          <a:lstStyle/>
          <a:p>
            <a:pPr>
              <a:defRPr b="1" sz="1100">
                <a:solidFill>
                  <a:srgbClr val="2E4053"/>
                </a:solidFill>
                <a:latin typeface="微软雅黑"/>
              </a:defRPr>
            </a:pPr>
            <a:r>
              <a:t>LBL_NAV_SECTION</a:t>
            </a:r>
          </a:p>
          <a:p>
            <a:pPr>
              <a:spcBef>
                <a:spcPts val="400"/>
              </a:spcBef>
              <a:defRPr sz="1000">
                <a:solidFill>
                  <a:srgbClr val="333333"/>
                </a:solidFill>
                <a:latin typeface="微软雅黑"/>
              </a:defRPr>
            </a:pPr>
            <a:r>
              <a:t>如：累计收益率走势</a:t>
            </a:r>
          </a:p>
        </p:txBody>
      </p:sp>
      <p:graphicFrame>
        <p:nvGraphicFramePr>
          <p:cNvPr id="10" name="CHART_NAV_SERIES"/>
          <p:cNvGraphicFramePr>
            <a:graphicFrameLocks noGrp="1"/>
          </p:cNvGraphicFramePr>
          <p:nvPr/>
        </p:nvGraphicFramePr>
        <p:xfrm>
          <a:off x="6172200" y="3694176"/>
          <a:ext cx="580644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925312" y="612648"/>
            <a:ext cx="18288" cy="5806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200400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命名形状：TITLE_PAGE · TXT_FUND_PROFILE · TBL_RANKING · CHART_ALLOCATION · CHART_NAV_SERIES （及 LBL_* 小节标题框，可按需精简）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